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537960" y="0"/>
            <a:ext cx="5650992" cy="6858000"/>
          </a:xfrm>
          <a:prstGeom prst="rect">
            <a:avLst/>
          </a:prstGeom>
          <a:solidFill>
            <a:srgbClr val="0F172A"/>
          </a:solidFill>
          <a:ln/>
        </p:spPr>
      </p:sp>
      <p:pic>
        <p:nvPicPr>
          <p:cNvPr id="3" name="Image 0" descr="assets/itsfolio_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457200"/>
            <a:ext cx="658368" cy="658368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1280160" y="457200"/>
            <a:ext cx="3657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itsfolio</a:t>
            </a:r>
            <a:pPr indent="0" marL="0">
              <a:buNone/>
            </a:pPr>
            <a:r>
              <a:rPr lang="en-US" sz="22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.tech</a:t>
            </a:r>
            <a:endParaRPr lang="en-US" sz="2200" dirty="0"/>
          </a:p>
        </p:txBody>
      </p:sp>
      <p:sp>
        <p:nvSpPr>
          <p:cNvPr id="5" name="Text 2"/>
          <p:cNvSpPr txBox="1"/>
          <p:nvPr/>
        </p:nvSpPr>
        <p:spPr>
          <a:xfrm>
            <a:off x="502920" y="1828800"/>
            <a:ext cx="5760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SOFTWARE DEVELOPMENT INTERNSHIP</a:t>
            </a:r>
            <a:endParaRPr lang="en-US" sz="1300" dirty="0"/>
          </a:p>
        </p:txBody>
      </p:sp>
      <p:sp>
        <p:nvSpPr>
          <p:cNvPr id="6" name="Text 3"/>
          <p:cNvSpPr txBox="1"/>
          <p:nvPr/>
        </p:nvSpPr>
        <p:spPr>
          <a:xfrm>
            <a:off x="502920" y="2194560"/>
            <a:ext cx="57607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Software Development &amp; AI Integration</a:t>
            </a:r>
            <a:endParaRPr lang="en-US" sz="3400" dirty="0"/>
          </a:p>
        </p:txBody>
      </p:sp>
      <p:sp>
        <p:nvSpPr>
          <p:cNvPr id="7" name="Text 4"/>
          <p:cNvSpPr txBox="1"/>
          <p:nvPr/>
        </p:nvSpPr>
        <p:spPr>
          <a:xfrm>
            <a:off x="502920" y="3611880"/>
            <a:ext cx="5669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6-Week Professional Internship Presentation Report</a:t>
            </a:r>
            <a:endParaRPr lang="en-US" sz="1500" dirty="0"/>
          </a:p>
        </p:txBody>
      </p:sp>
      <p:sp>
        <p:nvSpPr>
          <p:cNvPr id="8" name="Text 5"/>
          <p:cNvSpPr txBox="1"/>
          <p:nvPr/>
        </p:nvSpPr>
        <p:spPr>
          <a:xfrm>
            <a:off x="502920" y="539496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INTERNSHIP DURATION</a:t>
            </a:r>
            <a:endParaRPr lang="en-US" sz="1200" dirty="0"/>
          </a:p>
        </p:txBody>
      </p:sp>
      <p:sp>
        <p:nvSpPr>
          <p:cNvPr id="9" name="Text 6"/>
          <p:cNvSpPr txBox="1"/>
          <p:nvPr/>
        </p:nvSpPr>
        <p:spPr>
          <a:xfrm>
            <a:off x="502920" y="571500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June 18 – July 31, 2026 (6 Weeks)  •  Remote</a:t>
            </a:r>
            <a:endParaRPr lang="en-US" sz="1500" dirty="0"/>
          </a:p>
        </p:txBody>
      </p:sp>
      <p:sp>
        <p:nvSpPr>
          <p:cNvPr id="10" name="Text 7"/>
          <p:cNvSpPr txBox="1"/>
          <p:nvPr/>
        </p:nvSpPr>
        <p:spPr>
          <a:xfrm>
            <a:off x="7040880" y="45720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60A5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STUDENT CREDENTIALS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7040880" y="868680"/>
            <a:ext cx="4663440" cy="1554480"/>
          </a:xfrm>
          <a:prstGeom prst="roundRect">
            <a:avLst>
              <a:gd name="adj" fmla="val 4706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7269480" y="1051560"/>
            <a:ext cx="4206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Lavanya Jangid</a:t>
            </a:r>
            <a:endParaRPr lang="en-US" sz="2200" dirty="0"/>
          </a:p>
        </p:txBody>
      </p:sp>
      <p:sp>
        <p:nvSpPr>
          <p:cNvPr id="13" name="Text 10"/>
          <p:cNvSpPr txBox="1"/>
          <p:nvPr/>
        </p:nvSpPr>
        <p:spPr>
          <a:xfrm>
            <a:off x="7269480" y="1600200"/>
            <a:ext cx="2194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Enrollment / Roll No.</a:t>
            </a:r>
            <a:endParaRPr lang="en-US" sz="1000" dirty="0"/>
          </a:p>
        </p:txBody>
      </p:sp>
      <p:sp>
        <p:nvSpPr>
          <p:cNvPr id="14" name="Text 11"/>
          <p:cNvSpPr txBox="1"/>
          <p:nvPr/>
        </p:nvSpPr>
        <p:spPr>
          <a:xfrm>
            <a:off x="7269480" y="182880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2410031445</a:t>
            </a:r>
            <a:endParaRPr lang="en-US" sz="1200" dirty="0"/>
          </a:p>
        </p:txBody>
      </p:sp>
      <p:sp>
        <p:nvSpPr>
          <p:cNvPr id="15" name="Text 12"/>
          <p:cNvSpPr txBox="1"/>
          <p:nvPr/>
        </p:nvSpPr>
        <p:spPr>
          <a:xfrm>
            <a:off x="9509760" y="1600200"/>
            <a:ext cx="2011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Program &amp; Semester</a:t>
            </a:r>
            <a:endParaRPr lang="en-US" sz="1000" dirty="0"/>
          </a:p>
        </p:txBody>
      </p:sp>
      <p:sp>
        <p:nvSpPr>
          <p:cNvPr id="16" name="Text 13"/>
          <p:cNvSpPr txBox="1"/>
          <p:nvPr/>
        </p:nvSpPr>
        <p:spPr>
          <a:xfrm>
            <a:off x="9509760" y="182880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B.Tech (CSE)</a:t>
            </a:r>
            <a:endParaRPr lang="en-US" sz="1200" dirty="0"/>
          </a:p>
        </p:txBody>
      </p:sp>
      <p:sp>
        <p:nvSpPr>
          <p:cNvPr id="17" name="Shape 14"/>
          <p:cNvSpPr/>
          <p:nvPr/>
        </p:nvSpPr>
        <p:spPr>
          <a:xfrm>
            <a:off x="7040880" y="5074920"/>
            <a:ext cx="4206240" cy="1188720"/>
          </a:xfrm>
          <a:prstGeom prst="roundRect">
            <a:avLst>
              <a:gd name="adj" fmla="val 7692"/>
            </a:avLst>
          </a:prstGeom>
          <a:solidFill>
            <a:srgbClr val="3B82F6"/>
          </a:solidFill>
          <a:ln/>
        </p:spPr>
      </p:sp>
      <p:sp>
        <p:nvSpPr>
          <p:cNvPr id="18" name="Text 15"/>
          <p:cNvSpPr txBox="1"/>
          <p:nvPr/>
        </p:nvSpPr>
        <p:spPr>
          <a:xfrm>
            <a:off x="7269480" y="5230368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DBEAF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HOST ORGANIZATION</a:t>
            </a:r>
            <a:endParaRPr lang="en-US" sz="1050" dirty="0"/>
          </a:p>
        </p:txBody>
      </p:sp>
      <p:sp>
        <p:nvSpPr>
          <p:cNvPr id="19" name="Text 16"/>
          <p:cNvSpPr txBox="1"/>
          <p:nvPr/>
        </p:nvSpPr>
        <p:spPr>
          <a:xfrm>
            <a:off x="7269480" y="5486400"/>
            <a:ext cx="3749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itsfolio.tech</a:t>
            </a:r>
            <a:endParaRPr lang="en-US" sz="1400" dirty="0"/>
          </a:p>
        </p:txBody>
      </p:sp>
      <p:sp>
        <p:nvSpPr>
          <p:cNvPr id="20" name="Text 17"/>
          <p:cNvSpPr txBox="1"/>
          <p:nvPr/>
        </p:nvSpPr>
        <p:spPr>
          <a:xfrm>
            <a:off x="7269480" y="5779008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FF6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From resume to portfolio — instantly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Candidate &amp; Program Overview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66928" y="1024128"/>
            <a:ext cx="11055096" cy="27432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4" name="Shape 2"/>
          <p:cNvSpPr/>
          <p:nvPr/>
        </p:nvSpPr>
        <p:spPr>
          <a:xfrm>
            <a:off x="566928" y="2103120"/>
            <a:ext cx="5349240" cy="2926080"/>
          </a:xfrm>
          <a:prstGeom prst="roundRect">
            <a:avLst>
              <a:gd name="adj" fmla="val 2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281928" y="2103120"/>
            <a:ext cx="5349240" cy="2926080"/>
          </a:xfrm>
          <a:prstGeom prst="roundRect">
            <a:avLst>
              <a:gd name="adj" fmla="val 2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66928" y="2103120"/>
            <a:ext cx="45720" cy="292608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7" name="Shape 5"/>
          <p:cNvSpPr/>
          <p:nvPr/>
        </p:nvSpPr>
        <p:spPr>
          <a:xfrm>
            <a:off x="6281928" y="2103120"/>
            <a:ext cx="45720" cy="292608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914400" y="2331720"/>
            <a:ext cx="4572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D4E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Candidate Details</a:t>
            </a:r>
            <a:endParaRPr lang="en-US" sz="1900" dirty="0"/>
          </a:p>
        </p:txBody>
      </p:sp>
      <p:sp>
        <p:nvSpPr>
          <p:cNvPr id="9" name="Text 7"/>
          <p:cNvSpPr txBox="1"/>
          <p:nvPr/>
        </p:nvSpPr>
        <p:spPr>
          <a:xfrm>
            <a:off x="914400" y="2880360"/>
            <a:ext cx="475488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400"/>
              </a:lnSpc>
              <a:buNone/>
            </a:pPr>
            <a:r>
              <a:rPr lang="en-US" sz="1300" b="1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Student Name: </a:t>
            </a:r>
            <a:pPr indent="0" marL="0">
              <a:lnSpc>
                <a:spcPts val="2400"/>
              </a:lnSpc>
              <a:buNone/>
            </a:pPr>
            <a:r>
              <a:rPr lang="en-US" sz="13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LAVANYA JANGID
</a:t>
            </a:r>
            <a:pPr indent="0" marL="0">
              <a:lnSpc>
                <a:spcPts val="2400"/>
              </a:lnSpc>
              <a:buNone/>
            </a:pPr>
            <a:r>
              <a:rPr lang="en-US" sz="1300" b="1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Roll Number: </a:t>
            </a:r>
            <a:pPr indent="0" marL="0">
              <a:lnSpc>
                <a:spcPts val="2400"/>
              </a:lnSpc>
              <a:buNone/>
            </a:pPr>
            <a:r>
              <a:rPr lang="en-US" sz="13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2410031445
</a:t>
            </a:r>
            <a:pPr indent="0" marL="0">
              <a:lnSpc>
                <a:spcPts val="2400"/>
              </a:lnSpc>
              <a:buNone/>
            </a:pPr>
            <a:r>
              <a:rPr lang="en-US" sz="1300" b="1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Degree: </a:t>
            </a:r>
            <a:pPr indent="0" marL="0">
              <a:lnSpc>
                <a:spcPts val="2400"/>
              </a:lnSpc>
              <a:buNone/>
            </a:pPr>
            <a:r>
              <a:rPr lang="en-US" sz="13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B.Tech (Computer Science &amp; Engineering)
</a:t>
            </a:r>
            <a:pPr indent="0" marL="0">
              <a:lnSpc>
                <a:spcPts val="2400"/>
              </a:lnSpc>
              <a:buNone/>
            </a:pPr>
            <a:r>
              <a:rPr lang="en-US" sz="1300" b="1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Academic Batch: </a:t>
            </a:r>
            <a:pPr indent="0" marL="0">
              <a:lnSpc>
                <a:spcPts val="2400"/>
              </a:lnSpc>
              <a:buNone/>
            </a:pPr>
            <a:r>
              <a:rPr lang="en-US" sz="13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2026-2027
</a:t>
            </a:r>
            <a:pPr indent="0" marL="0">
              <a:lnSpc>
                <a:spcPts val="2400"/>
              </a:lnSpc>
              <a:buNone/>
            </a:pPr>
            <a:r>
              <a:rPr lang="en-US" sz="1300" b="1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University: </a:t>
            </a:r>
            <a:pPr indent="0" marL="0">
              <a:lnSpc>
                <a:spcPts val="2400"/>
              </a:lnSpc>
              <a:buNone/>
            </a:pPr>
            <a:r>
              <a:rPr lang="en-US" sz="13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IILM University, Greater Noida, U.P.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6629400" y="2331720"/>
            <a:ext cx="4572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D4E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Internship Profile</a:t>
            </a:r>
            <a:endParaRPr lang="en-US" sz="1900" dirty="0"/>
          </a:p>
        </p:txBody>
      </p:sp>
      <p:sp>
        <p:nvSpPr>
          <p:cNvPr id="11" name="Text 9"/>
          <p:cNvSpPr txBox="1"/>
          <p:nvPr/>
        </p:nvSpPr>
        <p:spPr>
          <a:xfrm>
            <a:off x="6629400" y="2880360"/>
            <a:ext cx="475488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400"/>
              </a:lnSpc>
              <a:buNone/>
            </a:pPr>
            <a:r>
              <a:rPr lang="en-US" sz="1300" b="1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Position: </a:t>
            </a:r>
            <a:pPr indent="0" marL="0">
              <a:lnSpc>
                <a:spcPts val="2400"/>
              </a:lnSpc>
              <a:buNone/>
            </a:pPr>
            <a:r>
              <a:rPr lang="en-US" sz="13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Software Development Intern
</a:t>
            </a:r>
            <a:pPr indent="0" marL="0">
              <a:lnSpc>
                <a:spcPts val="2400"/>
              </a:lnSpc>
              <a:buNone/>
            </a:pPr>
            <a:r>
              <a:rPr lang="en-US" sz="1300" b="1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Organization: </a:t>
            </a:r>
            <a:pPr indent="0" marL="0">
              <a:lnSpc>
                <a:spcPts val="2400"/>
              </a:lnSpc>
              <a:buNone/>
            </a:pPr>
            <a:r>
              <a:rPr lang="en-US" sz="13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itsfolio.tech
</a:t>
            </a:r>
            <a:pPr indent="0" marL="0">
              <a:lnSpc>
                <a:spcPts val="2400"/>
              </a:lnSpc>
              <a:buNone/>
            </a:pPr>
            <a:r>
              <a:rPr lang="en-US" sz="1300" b="1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Duration: </a:t>
            </a:r>
            <a:pPr indent="0" marL="0">
              <a:lnSpc>
                <a:spcPts val="2400"/>
              </a:lnSpc>
              <a:buNone/>
            </a:pPr>
            <a:r>
              <a:rPr lang="en-US" sz="13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 Weeks (June 18 – July 31, 2026)
</a:t>
            </a:r>
            <a:pPr indent="0" marL="0">
              <a:lnSpc>
                <a:spcPts val="2400"/>
              </a:lnSpc>
              <a:buNone/>
            </a:pPr>
            <a:r>
              <a:rPr lang="en-US" sz="1300" b="1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Work Mode: </a:t>
            </a:r>
            <a:pPr indent="0" marL="0">
              <a:lnSpc>
                <a:spcPts val="2400"/>
              </a:lnSpc>
              <a:buNone/>
            </a:pPr>
            <a:r>
              <a:rPr lang="en-US" sz="13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Remote
</a:t>
            </a:r>
            <a:pPr indent="0" marL="0">
              <a:lnSpc>
                <a:spcPts val="2400"/>
              </a:lnSpc>
              <a:buNone/>
            </a:pPr>
            <a:r>
              <a:rPr lang="en-US" sz="1300" b="1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Compensation: </a:t>
            </a:r>
            <a:pPr indent="0" marL="0">
              <a:lnSpc>
                <a:spcPts val="2400"/>
              </a:lnSpc>
              <a:buNone/>
            </a:pPr>
            <a:r>
              <a:rPr lang="en-US" sz="13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Certificate of Internship &amp; LOR on completion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Organization Profile: itsfolio.tech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66928" y="1024128"/>
            <a:ext cx="11055096" cy="27432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566928" y="1554480"/>
            <a:ext cx="55778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200"/>
              </a:lnSpc>
              <a:buNone/>
            </a:pPr>
            <a:r>
              <a:rPr lang="en-US" sz="14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itsfolio.tech </a:t>
            </a:r>
            <a:pPr indent="0" marL="0">
              <a:lnSpc>
                <a:spcPts val="2200"/>
              </a:lnSpc>
              <a:buNone/>
            </a:pPr>
            <a:r>
              <a:rPr lang="en-US" sz="14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is an AI-powered platform that turns resumes into hosted, recruiter-ready portfolio websites in seconds, built around the vision </a:t>
            </a:r>
            <a:pPr indent="0" marL="0">
              <a:lnSpc>
                <a:spcPts val="2200"/>
              </a:lnSpc>
              <a:buNone/>
            </a:pPr>
            <a:r>
              <a:rPr lang="en-US" sz="1400" i="1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"From resume to portfolio — instantly".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66928" y="2971800"/>
            <a:ext cx="256032" cy="256032"/>
          </a:xfrm>
          <a:prstGeom prst="roundRect">
            <a:avLst>
              <a:gd name="adj" fmla="val 17857"/>
            </a:avLst>
          </a:prstGeom>
          <a:solidFill>
            <a:srgbClr val="2563EB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960120" y="2926080"/>
            <a:ext cx="5212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900"/>
              </a:lnSpc>
              <a:buNone/>
            </a:pPr>
            <a:r>
              <a:rPr lang="en-US" sz="12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Founder-Led Product: </a:t>
            </a:r>
            <a:pPr indent="0" marL="0">
              <a:lnSpc>
                <a:spcPts val="1900"/>
              </a:lnSpc>
              <a:buNone/>
            </a:pPr>
            <a:r>
              <a:rPr lang="en-US" sz="125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Founded by Mr. Ashish Umrao; interns collaborate directly with the founder on product, backend, and AI-integration tasks.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566928" y="4023360"/>
            <a:ext cx="256032" cy="256032"/>
          </a:xfrm>
          <a:prstGeom prst="roundRect">
            <a:avLst>
              <a:gd name="adj" fmla="val 17857"/>
            </a:avLst>
          </a:prstGeom>
          <a:solidFill>
            <a:srgbClr val="2563EB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960120" y="3977640"/>
            <a:ext cx="5212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900"/>
              </a:lnSpc>
              <a:buNone/>
            </a:pPr>
            <a:r>
              <a:rPr lang="en-US" sz="12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at the Core: </a:t>
            </a:r>
            <a:pPr indent="0" marL="0">
              <a:lnSpc>
                <a:spcPts val="1900"/>
              </a:lnSpc>
              <a:buNone/>
            </a:pPr>
            <a:r>
              <a:rPr lang="en-US" sz="125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Automatically parses an uploaded resume and generates a polished, hosted personal portfolio website within seconds.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566928" y="5074920"/>
            <a:ext cx="256032" cy="256032"/>
          </a:xfrm>
          <a:prstGeom prst="roundRect">
            <a:avLst>
              <a:gd name="adj" fmla="val 17857"/>
            </a:avLst>
          </a:prstGeom>
          <a:solidFill>
            <a:srgbClr val="2563EB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960120" y="5029200"/>
            <a:ext cx="5212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900"/>
              </a:lnSpc>
              <a:buNone/>
            </a:pPr>
            <a:r>
              <a:rPr lang="en-US" sz="12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Startup Environment: </a:t>
            </a:r>
            <a:pPr indent="0" marL="0">
              <a:lnSpc>
                <a:spcPts val="1900"/>
              </a:lnSpc>
              <a:buNone/>
            </a:pPr>
            <a:r>
              <a:rPr lang="en-US" sz="125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fast-shipping, early-stage startup offering exposure to the full lifecycle — from code to ship to user feedback.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6675120" y="1554480"/>
            <a:ext cx="4937760" cy="4572000"/>
          </a:xfrm>
          <a:prstGeom prst="roundRect">
            <a:avLst>
              <a:gd name="adj" fmla="val 2000"/>
            </a:avLst>
          </a:prstGeom>
          <a:solidFill>
            <a:srgbClr val="0F172A"/>
          </a:solidFill>
          <a:ln/>
        </p:spPr>
      </p:sp>
      <p:pic>
        <p:nvPicPr>
          <p:cNvPr id="12" name="Image 0" descr="assets/itsfolio_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796528" y="1828800"/>
            <a:ext cx="694944" cy="694944"/>
          </a:xfrm>
          <a:prstGeom prst="rect">
            <a:avLst/>
          </a:prstGeom>
        </p:spPr>
      </p:pic>
      <p:sp>
        <p:nvSpPr>
          <p:cNvPr id="13" name="Text 10"/>
          <p:cNvSpPr txBox="1"/>
          <p:nvPr/>
        </p:nvSpPr>
        <p:spPr>
          <a:xfrm>
            <a:off x="6949440" y="2651760"/>
            <a:ext cx="4389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Growth in first two months since launch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7086600" y="3154680"/>
            <a:ext cx="4114800" cy="822960"/>
          </a:xfrm>
          <a:prstGeom prst="roundRect">
            <a:avLst>
              <a:gd name="adj" fmla="val 8889"/>
            </a:avLst>
          </a:prstGeom>
          <a:solidFill>
            <a:srgbClr val="1E293B"/>
          </a:solidFill>
          <a:ln/>
        </p:spPr>
      </p:sp>
      <p:sp>
        <p:nvSpPr>
          <p:cNvPr id="15" name="Text 12"/>
          <p:cNvSpPr txBox="1"/>
          <p:nvPr/>
        </p:nvSpPr>
        <p:spPr>
          <a:xfrm>
            <a:off x="7269480" y="3227832"/>
            <a:ext cx="155448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60A5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3,000+</a:t>
            </a:r>
            <a:endParaRPr lang="en-US" sz="2200" dirty="0"/>
          </a:p>
        </p:txBody>
      </p:sp>
      <p:sp>
        <p:nvSpPr>
          <p:cNvPr id="16" name="Text 13"/>
          <p:cNvSpPr txBox="1"/>
          <p:nvPr/>
        </p:nvSpPr>
        <p:spPr>
          <a:xfrm>
            <a:off x="8869680" y="3227832"/>
            <a:ext cx="228600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Visitors</a:t>
            </a:r>
            <a:endParaRPr lang="en-US" sz="1300" dirty="0"/>
          </a:p>
        </p:txBody>
      </p:sp>
      <p:sp>
        <p:nvSpPr>
          <p:cNvPr id="17" name="Shape 14"/>
          <p:cNvSpPr/>
          <p:nvPr/>
        </p:nvSpPr>
        <p:spPr>
          <a:xfrm>
            <a:off x="7086600" y="4114800"/>
            <a:ext cx="4114800" cy="822960"/>
          </a:xfrm>
          <a:prstGeom prst="roundRect">
            <a:avLst>
              <a:gd name="adj" fmla="val 8889"/>
            </a:avLst>
          </a:prstGeom>
          <a:solidFill>
            <a:srgbClr val="1E293B"/>
          </a:solidFill>
          <a:ln/>
        </p:spPr>
      </p:sp>
      <p:sp>
        <p:nvSpPr>
          <p:cNvPr id="18" name="Text 15"/>
          <p:cNvSpPr txBox="1"/>
          <p:nvPr/>
        </p:nvSpPr>
        <p:spPr>
          <a:xfrm>
            <a:off x="7269480" y="4187952"/>
            <a:ext cx="155448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60A5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500+</a:t>
            </a:r>
            <a:endParaRPr lang="en-US" sz="2200" dirty="0"/>
          </a:p>
        </p:txBody>
      </p:sp>
      <p:sp>
        <p:nvSpPr>
          <p:cNvPr id="19" name="Text 16"/>
          <p:cNvSpPr txBox="1"/>
          <p:nvPr/>
        </p:nvSpPr>
        <p:spPr>
          <a:xfrm>
            <a:off x="8869680" y="4187952"/>
            <a:ext cx="228600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Monthly Active Users</a:t>
            </a:r>
            <a:endParaRPr lang="en-US" sz="1300" dirty="0"/>
          </a:p>
        </p:txBody>
      </p:sp>
      <p:sp>
        <p:nvSpPr>
          <p:cNvPr id="20" name="Shape 17"/>
          <p:cNvSpPr/>
          <p:nvPr/>
        </p:nvSpPr>
        <p:spPr>
          <a:xfrm>
            <a:off x="7086600" y="5074920"/>
            <a:ext cx="4114800" cy="822960"/>
          </a:xfrm>
          <a:prstGeom prst="roundRect">
            <a:avLst>
              <a:gd name="adj" fmla="val 8889"/>
            </a:avLst>
          </a:prstGeom>
          <a:solidFill>
            <a:srgbClr val="1E293B"/>
          </a:solidFill>
          <a:ln/>
        </p:spPr>
      </p:sp>
      <p:sp>
        <p:nvSpPr>
          <p:cNvPr id="21" name="Text 18"/>
          <p:cNvSpPr txBox="1"/>
          <p:nvPr/>
        </p:nvSpPr>
        <p:spPr>
          <a:xfrm>
            <a:off x="7269480" y="5148072"/>
            <a:ext cx="155448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60A5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800+</a:t>
            </a:r>
            <a:endParaRPr lang="en-US" sz="2200" dirty="0"/>
          </a:p>
        </p:txBody>
      </p:sp>
      <p:sp>
        <p:nvSpPr>
          <p:cNvPr id="22" name="Text 19"/>
          <p:cNvSpPr txBox="1"/>
          <p:nvPr/>
        </p:nvSpPr>
        <p:spPr>
          <a:xfrm>
            <a:off x="8869680" y="5148072"/>
            <a:ext cx="228600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Portfolios Generated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Problem Statement &amp; Industry Context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66928" y="1024128"/>
            <a:ext cx="11055096" cy="27432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4" name="Shape 2"/>
          <p:cNvSpPr/>
          <p:nvPr/>
        </p:nvSpPr>
        <p:spPr>
          <a:xfrm>
            <a:off x="566928" y="1828800"/>
            <a:ext cx="5349240" cy="3566160"/>
          </a:xfrm>
          <a:prstGeom prst="roundRect">
            <a:avLst>
              <a:gd name="adj" fmla="val 2051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281928" y="1828800"/>
            <a:ext cx="5349240" cy="3566160"/>
          </a:xfrm>
          <a:prstGeom prst="roundRect">
            <a:avLst>
              <a:gd name="adj" fmla="val 2051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66928" y="1828800"/>
            <a:ext cx="45720" cy="356616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7" name="Shape 5"/>
          <p:cNvSpPr/>
          <p:nvPr/>
        </p:nvSpPr>
        <p:spPr>
          <a:xfrm>
            <a:off x="6281928" y="1828800"/>
            <a:ext cx="45720" cy="356616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914400" y="2103120"/>
            <a:ext cx="4754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D4E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Industry Challenge</a:t>
            </a:r>
            <a:endParaRPr lang="en-US" sz="1900" dirty="0"/>
          </a:p>
        </p:txBody>
      </p:sp>
      <p:sp>
        <p:nvSpPr>
          <p:cNvPr id="9" name="Text 7"/>
          <p:cNvSpPr txBox="1"/>
          <p:nvPr/>
        </p:nvSpPr>
        <p:spPr>
          <a:xfrm>
            <a:off x="914400" y="2697480"/>
            <a:ext cx="47091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000"/>
              </a:lnSpc>
              <a:buNone/>
            </a:pPr>
            <a:r>
              <a:rPr lang="en-US" sz="125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Students and early-career professionals struggle to present their skills effectively to recruiters. Almost everyone has a resume, but very few have a personal portfolio website — building one traditionally demands design skill, web development knowledge, hosting setup, and significant time.</a:t>
            </a:r>
            <a:endParaRPr lang="en-US" sz="1250" dirty="0"/>
          </a:p>
        </p:txBody>
      </p:sp>
      <p:sp>
        <p:nvSpPr>
          <p:cNvPr id="10" name="Text 8"/>
          <p:cNvSpPr txBox="1"/>
          <p:nvPr/>
        </p:nvSpPr>
        <p:spPr>
          <a:xfrm>
            <a:off x="914400" y="4343400"/>
            <a:ext cx="4709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150" i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strong resume sitting as a static PDF provides far less recruiter impact than a live, polished, shareable portfolio website.</a:t>
            </a:r>
            <a:endParaRPr lang="en-US" sz="1150" dirty="0"/>
          </a:p>
        </p:txBody>
      </p:sp>
      <p:sp>
        <p:nvSpPr>
          <p:cNvPr id="11" name="Text 9"/>
          <p:cNvSpPr txBox="1"/>
          <p:nvPr/>
        </p:nvSpPr>
        <p:spPr>
          <a:xfrm>
            <a:off x="6629400" y="2103120"/>
            <a:ext cx="4754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D4E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Internship Scope</a:t>
            </a:r>
            <a:endParaRPr lang="en-US" sz="1900" dirty="0"/>
          </a:p>
        </p:txBody>
      </p:sp>
      <p:sp>
        <p:nvSpPr>
          <p:cNvPr id="12" name="Text 10"/>
          <p:cNvSpPr txBox="1"/>
          <p:nvPr/>
        </p:nvSpPr>
        <p:spPr>
          <a:xfrm>
            <a:off x="6629400" y="2697480"/>
            <a:ext cx="47091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000"/>
              </a:lnSpc>
              <a:buNone/>
            </a:pPr>
            <a:r>
              <a:rPr lang="en-US" sz="125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Contribute to the live itsfolio.tech platform as a software developer: hands-on development on the Next.js/React codebase, shipping real features to real users, and strengthening the backend and AI pipeline.</a:t>
            </a:r>
            <a:endParaRPr lang="en-US" sz="1250" dirty="0"/>
          </a:p>
        </p:txBody>
      </p:sp>
      <p:sp>
        <p:nvSpPr>
          <p:cNvPr id="13" name="Text 11"/>
          <p:cNvSpPr txBox="1"/>
          <p:nvPr/>
        </p:nvSpPr>
        <p:spPr>
          <a:xfrm>
            <a:off x="6629400" y="4343400"/>
            <a:ext cx="4709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150" i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Collaborating directly with the founder on product, backend, and AI-integration tasks in a fast-moving startup environment.</a:t>
            </a:r>
            <a:endParaRPr lang="en-US" sz="11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Core Internship Objectives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66928" y="1024128"/>
            <a:ext cx="11055096" cy="27432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4" name="Shape 2"/>
          <p:cNvSpPr/>
          <p:nvPr/>
        </p:nvSpPr>
        <p:spPr>
          <a:xfrm>
            <a:off x="566928" y="1828800"/>
            <a:ext cx="2670048" cy="3840480"/>
          </a:xfrm>
          <a:prstGeom prst="roundRect">
            <a:avLst>
              <a:gd name="adj" fmla="val 274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95528" y="2103120"/>
            <a:ext cx="411480" cy="411480"/>
          </a:xfrm>
          <a:prstGeom prst="roundRect">
            <a:avLst>
              <a:gd name="adj" fmla="val 17778"/>
            </a:avLst>
          </a:prstGeom>
          <a:solidFill>
            <a:srgbClr val="2563EB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795528" y="210312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&lt;/&gt;</a:t>
            </a:r>
            <a:endParaRPr lang="en-US" sz="1700" dirty="0"/>
          </a:p>
        </p:txBody>
      </p:sp>
      <p:sp>
        <p:nvSpPr>
          <p:cNvPr id="7" name="Text 5"/>
          <p:cNvSpPr txBox="1"/>
          <p:nvPr/>
        </p:nvSpPr>
        <p:spPr>
          <a:xfrm>
            <a:off x="795528" y="2697480"/>
            <a:ext cx="221284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900"/>
              </a:lnSpc>
              <a:buNone/>
            </a:pPr>
            <a:r>
              <a:rPr lang="en-US" sz="15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Frontend Development</a:t>
            </a:r>
            <a:endParaRPr lang="en-US" sz="1550" dirty="0"/>
          </a:p>
        </p:txBody>
      </p:sp>
      <p:sp>
        <p:nvSpPr>
          <p:cNvPr id="8" name="Text 6"/>
          <p:cNvSpPr txBox="1"/>
          <p:nvPr/>
        </p:nvSpPr>
        <p:spPr>
          <a:xfrm>
            <a:off x="795528" y="3566160"/>
            <a:ext cx="2212848" cy="1874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15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Ship real, user-facing features on the live Next.js/React platform — components, portfolio templates, and responsive UI improvements.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3374136" y="1828800"/>
            <a:ext cx="2670048" cy="3840480"/>
          </a:xfrm>
          <a:prstGeom prst="roundRect">
            <a:avLst>
              <a:gd name="adj" fmla="val 274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602736" y="2103120"/>
            <a:ext cx="411480" cy="411480"/>
          </a:xfrm>
          <a:prstGeom prst="roundRect">
            <a:avLst>
              <a:gd name="adj" fmla="val 17778"/>
            </a:avLst>
          </a:prstGeom>
          <a:solidFill>
            <a:srgbClr val="2563EB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3602736" y="210312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{ }</a:t>
            </a:r>
            <a:endParaRPr lang="en-US" sz="1700" dirty="0"/>
          </a:p>
        </p:txBody>
      </p:sp>
      <p:sp>
        <p:nvSpPr>
          <p:cNvPr id="12" name="Text 10"/>
          <p:cNvSpPr txBox="1"/>
          <p:nvPr/>
        </p:nvSpPr>
        <p:spPr>
          <a:xfrm>
            <a:off x="3602736" y="2697480"/>
            <a:ext cx="221284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900"/>
              </a:lnSpc>
              <a:buNone/>
            </a:pPr>
            <a:r>
              <a:rPr lang="en-US" sz="15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Backend &amp; APIs</a:t>
            </a:r>
            <a:endParaRPr lang="en-US" sz="1550" dirty="0"/>
          </a:p>
        </p:txBody>
      </p:sp>
      <p:sp>
        <p:nvSpPr>
          <p:cNvPr id="13" name="Text 11"/>
          <p:cNvSpPr txBox="1"/>
          <p:nvPr/>
        </p:nvSpPr>
        <p:spPr>
          <a:xfrm>
            <a:off x="3602736" y="3566160"/>
            <a:ext cx="2212848" cy="1874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15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Build and improve Next.js API routes and server-side logic powering the resume upload and portfolio generation pipeline.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6181344" y="1828800"/>
            <a:ext cx="2670048" cy="3840480"/>
          </a:xfrm>
          <a:prstGeom prst="roundRect">
            <a:avLst>
              <a:gd name="adj" fmla="val 274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409944" y="2103120"/>
            <a:ext cx="411480" cy="411480"/>
          </a:xfrm>
          <a:prstGeom prst="roundRect">
            <a:avLst>
              <a:gd name="adj" fmla="val 17778"/>
            </a:avLst>
          </a:prstGeom>
          <a:solidFill>
            <a:srgbClr val="2563EB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6409944" y="210312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</a:t>
            </a:r>
            <a:endParaRPr lang="en-US" sz="1700" dirty="0"/>
          </a:p>
        </p:txBody>
      </p:sp>
      <p:sp>
        <p:nvSpPr>
          <p:cNvPr id="17" name="Text 15"/>
          <p:cNvSpPr txBox="1"/>
          <p:nvPr/>
        </p:nvSpPr>
        <p:spPr>
          <a:xfrm>
            <a:off x="6409944" y="2697480"/>
            <a:ext cx="221284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900"/>
              </a:lnSpc>
              <a:buNone/>
            </a:pPr>
            <a:r>
              <a:rPr lang="en-US" sz="15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Integration</a:t>
            </a:r>
            <a:endParaRPr lang="en-US" sz="1550" dirty="0"/>
          </a:p>
        </p:txBody>
      </p:sp>
      <p:sp>
        <p:nvSpPr>
          <p:cNvPr id="18" name="Text 16"/>
          <p:cNvSpPr txBox="1"/>
          <p:nvPr/>
        </p:nvSpPr>
        <p:spPr>
          <a:xfrm>
            <a:off x="6409944" y="3566160"/>
            <a:ext cx="2212848" cy="1874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15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Work on LLM-powered resume parsing and portfolio content generation — prompt design, structured outputs, and quality improvements.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8988552" y="1828800"/>
            <a:ext cx="2670048" cy="3840480"/>
          </a:xfrm>
          <a:prstGeom prst="roundRect">
            <a:avLst>
              <a:gd name="adj" fmla="val 274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9217152" y="2103120"/>
            <a:ext cx="411480" cy="411480"/>
          </a:xfrm>
          <a:prstGeom prst="roundRect">
            <a:avLst>
              <a:gd name="adj" fmla="val 17778"/>
            </a:avLst>
          </a:prstGeom>
          <a:solidFill>
            <a:srgbClr val="2563EB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9217152" y="210312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🚀</a:t>
            </a:r>
            <a:endParaRPr lang="en-US" sz="1700" dirty="0"/>
          </a:p>
        </p:txBody>
      </p:sp>
      <p:sp>
        <p:nvSpPr>
          <p:cNvPr id="22" name="Text 20"/>
          <p:cNvSpPr txBox="1"/>
          <p:nvPr/>
        </p:nvSpPr>
        <p:spPr>
          <a:xfrm>
            <a:off x="9217152" y="2697480"/>
            <a:ext cx="221284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900"/>
              </a:lnSpc>
              <a:buNone/>
            </a:pPr>
            <a:r>
              <a:rPr lang="en-US" sz="15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Startup Lifecycle</a:t>
            </a:r>
            <a:endParaRPr lang="en-US" sz="1550" dirty="0"/>
          </a:p>
        </p:txBody>
      </p:sp>
      <p:sp>
        <p:nvSpPr>
          <p:cNvPr id="23" name="Text 21"/>
          <p:cNvSpPr txBox="1"/>
          <p:nvPr/>
        </p:nvSpPr>
        <p:spPr>
          <a:xfrm>
            <a:off x="9217152" y="3566160"/>
            <a:ext cx="2212848" cy="1874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15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Experience the full lifecycle of a growing startup — from code to ship to user feedback — with founder-level collaboration.</a:t>
            </a:r>
            <a:endParaRPr lang="en-US" sz="11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Technologies &amp; Development Toolchain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66928" y="1024128"/>
            <a:ext cx="11055096" cy="27432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4" name="Shape 2"/>
          <p:cNvSpPr/>
          <p:nvPr/>
        </p:nvSpPr>
        <p:spPr>
          <a:xfrm>
            <a:off x="566928" y="1828800"/>
            <a:ext cx="2670048" cy="3840480"/>
          </a:xfrm>
          <a:prstGeom prst="roundRect">
            <a:avLst>
              <a:gd name="adj" fmla="val 274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95528" y="2103120"/>
            <a:ext cx="411480" cy="411480"/>
          </a:xfrm>
          <a:prstGeom prst="roundRect">
            <a:avLst>
              <a:gd name="adj" fmla="val 17778"/>
            </a:avLst>
          </a:prstGeom>
          <a:solidFill>
            <a:srgbClr val="2563EB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795528" y="210312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700" dirty="0"/>
          </a:p>
        </p:txBody>
      </p:sp>
      <p:sp>
        <p:nvSpPr>
          <p:cNvPr id="7" name="Text 5"/>
          <p:cNvSpPr txBox="1"/>
          <p:nvPr/>
        </p:nvSpPr>
        <p:spPr>
          <a:xfrm>
            <a:off x="795528" y="2697480"/>
            <a:ext cx="22128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Frontend</a:t>
            </a:r>
            <a:endParaRPr lang="en-US" sz="1550" dirty="0"/>
          </a:p>
        </p:txBody>
      </p:sp>
      <p:sp>
        <p:nvSpPr>
          <p:cNvPr id="8" name="Text 6"/>
          <p:cNvSpPr txBox="1"/>
          <p:nvPr/>
        </p:nvSpPr>
        <p:spPr>
          <a:xfrm>
            <a:off x="795528" y="3246120"/>
            <a:ext cx="2212848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1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Framework: </a:t>
            </a:r>
            <a:pPr indent="0" marL="0">
              <a:lnSpc>
                <a:spcPts val="1600"/>
              </a:lnSpc>
              <a:buNone/>
            </a:pPr>
            <a:r>
              <a:rPr lang="en-US" sz="11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Next.js, React
</a:t>
            </a:r>
            <a:pPr indent="0" marL="0">
              <a:lnSpc>
                <a:spcPts val="1600"/>
              </a:lnSpc>
              <a:buNone/>
            </a:pPr>
            <a:r>
              <a:rPr lang="en-US" sz="11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Languages: </a:t>
            </a:r>
            <a:pPr indent="0" marL="0">
              <a:lnSpc>
                <a:spcPts val="1600"/>
              </a:lnSpc>
              <a:buNone/>
            </a:pPr>
            <a:r>
              <a:rPr lang="en-US" sz="11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JavaScript / TypeScript, HTML, CSS
</a:t>
            </a:r>
            <a:pPr indent="0" marL="0">
              <a:lnSpc>
                <a:spcPts val="1600"/>
              </a:lnSpc>
              <a:buNone/>
            </a:pPr>
            <a:r>
              <a:rPr lang="en-US" sz="11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UI: </a:t>
            </a:r>
            <a:pPr indent="0" marL="0">
              <a:lnSpc>
                <a:spcPts val="1600"/>
              </a:lnSpc>
              <a:buNone/>
            </a:pPr>
            <a:r>
              <a:rPr lang="en-US" sz="11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Responsive, utility-first styling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374136" y="1828800"/>
            <a:ext cx="2670048" cy="3840480"/>
          </a:xfrm>
          <a:prstGeom prst="roundRect">
            <a:avLst>
              <a:gd name="adj" fmla="val 274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602736" y="2103120"/>
            <a:ext cx="411480" cy="411480"/>
          </a:xfrm>
          <a:prstGeom prst="roundRect">
            <a:avLst>
              <a:gd name="adj" fmla="val 17778"/>
            </a:avLst>
          </a:prstGeom>
          <a:solidFill>
            <a:srgbClr val="2563EB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3602736" y="210312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700" dirty="0"/>
          </a:p>
        </p:txBody>
      </p:sp>
      <p:sp>
        <p:nvSpPr>
          <p:cNvPr id="12" name="Text 10"/>
          <p:cNvSpPr txBox="1"/>
          <p:nvPr/>
        </p:nvSpPr>
        <p:spPr>
          <a:xfrm>
            <a:off x="3602736" y="2697480"/>
            <a:ext cx="22128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Backend</a:t>
            </a:r>
            <a:endParaRPr lang="en-US" sz="1550" dirty="0"/>
          </a:p>
        </p:txBody>
      </p:sp>
      <p:sp>
        <p:nvSpPr>
          <p:cNvPr id="13" name="Text 11"/>
          <p:cNvSpPr txBox="1"/>
          <p:nvPr/>
        </p:nvSpPr>
        <p:spPr>
          <a:xfrm>
            <a:off x="3602736" y="3246120"/>
            <a:ext cx="2212848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1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Runtime: </a:t>
            </a:r>
            <a:pPr indent="0" marL="0">
              <a:lnSpc>
                <a:spcPts val="1600"/>
              </a:lnSpc>
              <a:buNone/>
            </a:pPr>
            <a:r>
              <a:rPr lang="en-US" sz="11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Node.js
</a:t>
            </a:r>
            <a:pPr indent="0" marL="0">
              <a:lnSpc>
                <a:spcPts val="1600"/>
              </a:lnSpc>
              <a:buNone/>
            </a:pPr>
            <a:r>
              <a:rPr lang="en-US" sz="11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APIs: </a:t>
            </a:r>
            <a:pPr indent="0" marL="0">
              <a:lnSpc>
                <a:spcPts val="1600"/>
              </a:lnSpc>
              <a:buNone/>
            </a:pPr>
            <a:r>
              <a:rPr lang="en-US" sz="11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Next.js API routes, RESTful services
</a:t>
            </a:r>
            <a:pPr indent="0" marL="0">
              <a:lnSpc>
                <a:spcPts val="1600"/>
              </a:lnSpc>
              <a:buNone/>
            </a:pPr>
            <a:r>
              <a:rPr lang="en-US" sz="11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Data: </a:t>
            </a:r>
            <a:pPr indent="0" marL="0">
              <a:lnSpc>
                <a:spcPts val="1600"/>
              </a:lnSpc>
              <a:buNone/>
            </a:pPr>
            <a:r>
              <a:rPr lang="en-US" sz="11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Cloud database &amp; file storage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181344" y="1828800"/>
            <a:ext cx="2670048" cy="3840480"/>
          </a:xfrm>
          <a:prstGeom prst="roundRect">
            <a:avLst>
              <a:gd name="adj" fmla="val 274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409944" y="2103120"/>
            <a:ext cx="411480" cy="411480"/>
          </a:xfrm>
          <a:prstGeom prst="roundRect">
            <a:avLst>
              <a:gd name="adj" fmla="val 17778"/>
            </a:avLst>
          </a:prstGeom>
          <a:solidFill>
            <a:srgbClr val="2563EB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6409944" y="210312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700" dirty="0"/>
          </a:p>
        </p:txBody>
      </p:sp>
      <p:sp>
        <p:nvSpPr>
          <p:cNvPr id="17" name="Text 15"/>
          <p:cNvSpPr txBox="1"/>
          <p:nvPr/>
        </p:nvSpPr>
        <p:spPr>
          <a:xfrm>
            <a:off x="6409944" y="2697480"/>
            <a:ext cx="22128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&amp; GenAI</a:t>
            </a:r>
            <a:endParaRPr lang="en-US" sz="1550" dirty="0"/>
          </a:p>
        </p:txBody>
      </p:sp>
      <p:sp>
        <p:nvSpPr>
          <p:cNvPr id="18" name="Text 16"/>
          <p:cNvSpPr txBox="1"/>
          <p:nvPr/>
        </p:nvSpPr>
        <p:spPr>
          <a:xfrm>
            <a:off x="6409944" y="3246120"/>
            <a:ext cx="2212848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1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Core: </a:t>
            </a:r>
            <a:pPr indent="0" marL="0">
              <a:lnSpc>
                <a:spcPts val="1600"/>
              </a:lnSpc>
              <a:buNone/>
            </a:pPr>
            <a:r>
              <a:rPr lang="en-US" sz="11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LLM APIs for resume parsing &amp; content generation
</a:t>
            </a:r>
            <a:pPr indent="0" marL="0">
              <a:lnSpc>
                <a:spcPts val="1600"/>
              </a:lnSpc>
              <a:buNone/>
            </a:pPr>
            <a:r>
              <a:rPr lang="en-US" sz="11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Practice: </a:t>
            </a:r>
            <a:pPr indent="0" marL="0">
              <a:lnSpc>
                <a:spcPts val="1600"/>
              </a:lnSpc>
              <a:buNone/>
            </a:pPr>
            <a:r>
              <a:rPr lang="en-US" sz="11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Prompt engineering, structured outputs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8988552" y="1828800"/>
            <a:ext cx="2670048" cy="3840480"/>
          </a:xfrm>
          <a:prstGeom prst="roundRect">
            <a:avLst>
              <a:gd name="adj" fmla="val 274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9217152" y="2103120"/>
            <a:ext cx="411480" cy="411480"/>
          </a:xfrm>
          <a:prstGeom prst="roundRect">
            <a:avLst>
              <a:gd name="adj" fmla="val 17778"/>
            </a:avLst>
          </a:prstGeom>
          <a:solidFill>
            <a:srgbClr val="2563EB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9217152" y="210312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700" dirty="0"/>
          </a:p>
        </p:txBody>
      </p:sp>
      <p:sp>
        <p:nvSpPr>
          <p:cNvPr id="22" name="Text 20"/>
          <p:cNvSpPr txBox="1"/>
          <p:nvPr/>
        </p:nvSpPr>
        <p:spPr>
          <a:xfrm>
            <a:off x="9217152" y="2697480"/>
            <a:ext cx="22128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DevOps &amp; Workflow</a:t>
            </a:r>
            <a:endParaRPr lang="en-US" sz="1550" dirty="0"/>
          </a:p>
        </p:txBody>
      </p:sp>
      <p:sp>
        <p:nvSpPr>
          <p:cNvPr id="23" name="Text 21"/>
          <p:cNvSpPr txBox="1"/>
          <p:nvPr/>
        </p:nvSpPr>
        <p:spPr>
          <a:xfrm>
            <a:off x="9217152" y="3246120"/>
            <a:ext cx="2212848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1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Versioning: </a:t>
            </a:r>
            <a:pPr indent="0" marL="0">
              <a:lnSpc>
                <a:spcPts val="1600"/>
              </a:lnSpc>
              <a:buNone/>
            </a:pPr>
            <a:r>
              <a:rPr lang="en-US" sz="11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Git, GitHub, code reviews
</a:t>
            </a:r>
            <a:pPr indent="0" marL="0">
              <a:lnSpc>
                <a:spcPts val="1600"/>
              </a:lnSpc>
              <a:buNone/>
            </a:pPr>
            <a:r>
              <a:rPr lang="en-US" sz="11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Deployment: </a:t>
            </a:r>
            <a:pPr indent="0" marL="0">
              <a:lnSpc>
                <a:spcPts val="1600"/>
              </a:lnSpc>
              <a:buNone/>
            </a:pPr>
            <a:r>
              <a:rPr lang="en-US" sz="11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Cloud hosting for the live app
</a:t>
            </a:r>
            <a:pPr indent="0" marL="0">
              <a:lnSpc>
                <a:spcPts val="1600"/>
              </a:lnSpc>
              <a:buNone/>
            </a:pPr>
            <a:r>
              <a:rPr lang="en-US" sz="11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Process: </a:t>
            </a:r>
            <a:pPr indent="0" marL="0">
              <a:lnSpc>
                <a:spcPts val="1600"/>
              </a:lnSpc>
              <a:buNone/>
            </a:pPr>
            <a:r>
              <a:rPr lang="en-US" sz="11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Async updates, agile shipping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548640"/>
            <a:ext cx="5486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Platform Architecture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566928" y="1581912"/>
            <a:ext cx="219456" cy="219456"/>
          </a:xfrm>
          <a:prstGeom prst="roundRect">
            <a:avLst>
              <a:gd name="adj" fmla="val 20833"/>
            </a:avLst>
          </a:prstGeom>
          <a:solidFill>
            <a:srgbClr val="2563EB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914400" y="1554480"/>
            <a:ext cx="5120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700"/>
              </a:lnSpc>
              <a:buNone/>
            </a:pPr>
            <a:r>
              <a:rPr lang="en-US" sz="11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Presentation Layer: </a:t>
            </a:r>
            <a:pPr indent="0" marL="0">
              <a:lnSpc>
                <a:spcPts val="1700"/>
              </a:lnSpc>
              <a:buNone/>
            </a:pPr>
            <a:r>
              <a:rPr lang="en-US" sz="115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Next.js/React web app where users upload resumes and manage their hosted portfolio.</a:t>
            </a:r>
            <a:endParaRPr lang="en-US" sz="1150" dirty="0"/>
          </a:p>
        </p:txBody>
      </p:sp>
      <p:sp>
        <p:nvSpPr>
          <p:cNvPr id="5" name="Shape 3"/>
          <p:cNvSpPr/>
          <p:nvPr/>
        </p:nvSpPr>
        <p:spPr>
          <a:xfrm>
            <a:off x="566928" y="2404872"/>
            <a:ext cx="219456" cy="219456"/>
          </a:xfrm>
          <a:prstGeom prst="roundRect">
            <a:avLst>
              <a:gd name="adj" fmla="val 20833"/>
            </a:avLst>
          </a:prstGeom>
          <a:solidFill>
            <a:srgbClr val="2563EB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914400" y="2377440"/>
            <a:ext cx="5120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700"/>
              </a:lnSpc>
              <a:buNone/>
            </a:pPr>
            <a:r>
              <a:rPr lang="en-US" sz="11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API Layer: </a:t>
            </a:r>
            <a:pPr indent="0" marL="0">
              <a:lnSpc>
                <a:spcPts val="1700"/>
              </a:lnSpc>
              <a:buNone/>
            </a:pPr>
            <a:r>
              <a:rPr lang="en-US" sz="115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Next.js API routes and server-side logic handling uploads and generation requests.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566928" y="3227832"/>
            <a:ext cx="219456" cy="219456"/>
          </a:xfrm>
          <a:prstGeom prst="roundRect">
            <a:avLst>
              <a:gd name="adj" fmla="val 20833"/>
            </a:avLst>
          </a:prstGeom>
          <a:solidFill>
            <a:srgbClr val="2563EB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914400" y="3200400"/>
            <a:ext cx="5120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700"/>
              </a:lnSpc>
              <a:buNone/>
            </a:pPr>
            <a:r>
              <a:rPr lang="en-US" sz="11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Processing Layer: </a:t>
            </a:r>
            <a:pPr indent="0" marL="0">
              <a:lnSpc>
                <a:spcPts val="1700"/>
              </a:lnSpc>
              <a:buNone/>
            </a:pPr>
            <a:r>
              <a:rPr lang="en-US" sz="115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LLM services that parse resumes and generate polished portfolio content.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566928" y="4050792"/>
            <a:ext cx="219456" cy="219456"/>
          </a:xfrm>
          <a:prstGeom prst="roundRect">
            <a:avLst>
              <a:gd name="adj" fmla="val 20833"/>
            </a:avLst>
          </a:prstGeom>
          <a:solidFill>
            <a:srgbClr val="2563EB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914400" y="4023360"/>
            <a:ext cx="5120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700"/>
              </a:lnSpc>
              <a:buNone/>
            </a:pPr>
            <a:r>
              <a:rPr lang="en-US" sz="11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Layer: </a:t>
            </a:r>
            <a:pPr indent="0" marL="0">
              <a:lnSpc>
                <a:spcPts val="1700"/>
              </a:lnSpc>
              <a:buNone/>
            </a:pPr>
            <a:r>
              <a:rPr lang="en-US" sz="115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Databases and storage for accounts, resume data, and portfolio configurations.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566928" y="4873752"/>
            <a:ext cx="219456" cy="219456"/>
          </a:xfrm>
          <a:prstGeom prst="roundRect">
            <a:avLst>
              <a:gd name="adj" fmla="val 20833"/>
            </a:avLst>
          </a:prstGeom>
          <a:solidFill>
            <a:srgbClr val="2563EB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914400" y="4846320"/>
            <a:ext cx="5120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700"/>
              </a:lnSpc>
              <a:buNone/>
            </a:pPr>
            <a:r>
              <a:rPr lang="en-US" sz="11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Hosting &amp; Delivery: </a:t>
            </a:r>
            <a:pPr indent="0" marL="0">
              <a:lnSpc>
                <a:spcPts val="1700"/>
              </a:lnSpc>
              <a:buNone/>
            </a:pPr>
            <a:r>
              <a:rPr lang="en-US" sz="115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Cloud infrastructure serving each portfolio as a fast, public, recruiter-ready site.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566928" y="5696712"/>
            <a:ext cx="219456" cy="219456"/>
          </a:xfrm>
          <a:prstGeom prst="roundRect">
            <a:avLst>
              <a:gd name="adj" fmla="val 20833"/>
            </a:avLst>
          </a:prstGeom>
          <a:solidFill>
            <a:srgbClr val="2563EB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914400" y="5669280"/>
            <a:ext cx="5120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700"/>
              </a:lnSpc>
              <a:buNone/>
            </a:pPr>
            <a:r>
              <a:rPr lang="en-US" sz="11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Feedback Layer: </a:t>
            </a:r>
            <a:pPr indent="0" marL="0">
              <a:lnSpc>
                <a:spcPts val="1700"/>
              </a:lnSpc>
              <a:buNone/>
            </a:pPr>
            <a:r>
              <a:rPr lang="en-US" sz="115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Analytics on visitors and generation that drive product iteration.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7040880" y="1051560"/>
            <a:ext cx="4480560" cy="566928"/>
          </a:xfrm>
          <a:prstGeom prst="roundRect">
            <a:avLst>
              <a:gd name="adj" fmla="val 12903"/>
            </a:avLst>
          </a:prstGeom>
          <a:solidFill>
            <a:srgbClr val="0F172A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7040880" y="1051560"/>
            <a:ext cx="44805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User  •  Web Browser</a:t>
            </a:r>
            <a:endParaRPr lang="en-US" sz="1250" dirty="0"/>
          </a:p>
        </p:txBody>
      </p:sp>
      <p:sp>
        <p:nvSpPr>
          <p:cNvPr id="17" name="Text 15"/>
          <p:cNvSpPr txBox="1"/>
          <p:nvPr/>
        </p:nvSpPr>
        <p:spPr>
          <a:xfrm>
            <a:off x="9098280" y="1618488"/>
            <a:ext cx="3657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▼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7040880" y="1947672"/>
            <a:ext cx="4480560" cy="566928"/>
          </a:xfrm>
          <a:prstGeom prst="roundRect">
            <a:avLst>
              <a:gd name="adj" fmla="val 12903"/>
            </a:avLst>
          </a:prstGeom>
          <a:solidFill>
            <a:srgbClr val="1D4ED8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7040880" y="1947672"/>
            <a:ext cx="44805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Next.js / React Frontend</a:t>
            </a:r>
            <a:endParaRPr lang="en-US" sz="1250" dirty="0"/>
          </a:p>
        </p:txBody>
      </p:sp>
      <p:sp>
        <p:nvSpPr>
          <p:cNvPr id="20" name="Text 18"/>
          <p:cNvSpPr txBox="1"/>
          <p:nvPr/>
        </p:nvSpPr>
        <p:spPr>
          <a:xfrm>
            <a:off x="9098280" y="2514600"/>
            <a:ext cx="3657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▼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7040880" y="2843784"/>
            <a:ext cx="4480560" cy="566928"/>
          </a:xfrm>
          <a:prstGeom prst="roundRect">
            <a:avLst>
              <a:gd name="adj" fmla="val 12903"/>
            </a:avLst>
          </a:prstGeom>
          <a:solidFill>
            <a:srgbClr val="0F172A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7040880" y="2843784"/>
            <a:ext cx="44805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API Routes (Node.js)</a:t>
            </a:r>
            <a:endParaRPr lang="en-US" sz="1250" dirty="0"/>
          </a:p>
        </p:txBody>
      </p:sp>
      <p:sp>
        <p:nvSpPr>
          <p:cNvPr id="23" name="Text 21"/>
          <p:cNvSpPr txBox="1"/>
          <p:nvPr/>
        </p:nvSpPr>
        <p:spPr>
          <a:xfrm>
            <a:off x="9098280" y="3410712"/>
            <a:ext cx="3657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▼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7040880" y="3739896"/>
            <a:ext cx="4480560" cy="566928"/>
          </a:xfrm>
          <a:prstGeom prst="roundRect">
            <a:avLst>
              <a:gd name="adj" fmla="val 12903"/>
            </a:avLst>
          </a:prstGeom>
          <a:solidFill>
            <a:srgbClr val="1D4ED8"/>
          </a:solidFill>
          <a:ln/>
        </p:spPr>
      </p:sp>
      <p:sp>
        <p:nvSpPr>
          <p:cNvPr id="25" name="Text 23"/>
          <p:cNvSpPr txBox="1"/>
          <p:nvPr/>
        </p:nvSpPr>
        <p:spPr>
          <a:xfrm>
            <a:off x="7040880" y="3739896"/>
            <a:ext cx="44805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Resume Parsing &amp; Generation (LLM)</a:t>
            </a:r>
            <a:endParaRPr lang="en-US" sz="1250" dirty="0"/>
          </a:p>
        </p:txBody>
      </p:sp>
      <p:sp>
        <p:nvSpPr>
          <p:cNvPr id="26" name="Text 24"/>
          <p:cNvSpPr txBox="1"/>
          <p:nvPr/>
        </p:nvSpPr>
        <p:spPr>
          <a:xfrm>
            <a:off x="9098280" y="4306824"/>
            <a:ext cx="3657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▼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7040880" y="4636008"/>
            <a:ext cx="4480560" cy="566928"/>
          </a:xfrm>
          <a:prstGeom prst="roundRect">
            <a:avLst>
              <a:gd name="adj" fmla="val 12903"/>
            </a:avLst>
          </a:prstGeom>
          <a:solidFill>
            <a:srgbClr val="0F172A"/>
          </a:solidFill>
          <a:ln/>
        </p:spPr>
      </p:sp>
      <p:sp>
        <p:nvSpPr>
          <p:cNvPr id="28" name="Text 26"/>
          <p:cNvSpPr txBox="1"/>
          <p:nvPr/>
        </p:nvSpPr>
        <p:spPr>
          <a:xfrm>
            <a:off x="7040880" y="4636008"/>
            <a:ext cx="44805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Database &amp; Storage</a:t>
            </a:r>
            <a:endParaRPr lang="en-US" sz="1250" dirty="0"/>
          </a:p>
        </p:txBody>
      </p:sp>
      <p:sp>
        <p:nvSpPr>
          <p:cNvPr id="29" name="Text 27"/>
          <p:cNvSpPr txBox="1"/>
          <p:nvPr/>
        </p:nvSpPr>
        <p:spPr>
          <a:xfrm>
            <a:off x="9098280" y="5202936"/>
            <a:ext cx="3657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▼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7040880" y="5532120"/>
            <a:ext cx="4480560" cy="566928"/>
          </a:xfrm>
          <a:prstGeom prst="roundRect">
            <a:avLst>
              <a:gd name="adj" fmla="val 12903"/>
            </a:avLst>
          </a:prstGeom>
          <a:solidFill>
            <a:srgbClr val="10B981"/>
          </a:solidFill>
          <a:ln/>
        </p:spPr>
      </p:sp>
      <p:sp>
        <p:nvSpPr>
          <p:cNvPr id="31" name="Text 29"/>
          <p:cNvSpPr txBox="1"/>
          <p:nvPr/>
        </p:nvSpPr>
        <p:spPr>
          <a:xfrm>
            <a:off x="7040880" y="5532120"/>
            <a:ext cx="44805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Hosted Portfolio Sites</a:t>
            </a:r>
            <a:endParaRPr lang="en-US" sz="12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Internship Timeline (Weeks 1 to 3)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66928" y="1024128"/>
            <a:ext cx="11055096" cy="27432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4" name="Shape 2"/>
          <p:cNvSpPr/>
          <p:nvPr/>
        </p:nvSpPr>
        <p:spPr>
          <a:xfrm>
            <a:off x="566928" y="3913632"/>
            <a:ext cx="11055096" cy="45720"/>
          </a:xfrm>
          <a:prstGeom prst="rect">
            <a:avLst/>
          </a:prstGeom>
          <a:solidFill>
            <a:srgbClr val="C7D2FE"/>
          </a:solidFill>
          <a:ln/>
        </p:spPr>
      </p:sp>
      <p:sp>
        <p:nvSpPr>
          <p:cNvPr id="5" name="Shape 3"/>
          <p:cNvSpPr/>
          <p:nvPr/>
        </p:nvSpPr>
        <p:spPr>
          <a:xfrm>
            <a:off x="2427732" y="3822192"/>
            <a:ext cx="219456" cy="219456"/>
          </a:xfrm>
          <a:prstGeom prst="ellipse">
            <a:avLst/>
          </a:prstGeom>
          <a:solidFill>
            <a:srgbClr val="FFFFFF"/>
          </a:solidFill>
          <a:ln w="31750">
            <a:solidFill>
              <a:srgbClr val="2563EB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22960" y="4297680"/>
            <a:ext cx="3429000" cy="1783080"/>
          </a:xfrm>
          <a:prstGeom prst="roundRect">
            <a:avLst>
              <a:gd name="adj" fmla="val 410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005840" y="4434840"/>
            <a:ext cx="3063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D4E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Week 1</a:t>
            </a:r>
            <a:endParaRPr lang="en-US" sz="1700" dirty="0"/>
          </a:p>
        </p:txBody>
      </p:sp>
      <p:sp>
        <p:nvSpPr>
          <p:cNvPr id="8" name="Text 6"/>
          <p:cNvSpPr txBox="1"/>
          <p:nvPr/>
        </p:nvSpPr>
        <p:spPr>
          <a:xfrm>
            <a:off x="1005840" y="4800600"/>
            <a:ext cx="3063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Onboarding &amp; Codebase</a:t>
            </a:r>
            <a:endParaRPr lang="en-US" sz="1200" dirty="0"/>
          </a:p>
        </p:txBody>
      </p:sp>
      <p:sp>
        <p:nvSpPr>
          <p:cNvPr id="9" name="Text 7"/>
          <p:cNvSpPr txBox="1"/>
          <p:nvPr/>
        </p:nvSpPr>
        <p:spPr>
          <a:xfrm>
            <a:off x="1005840" y="5138928"/>
            <a:ext cx="3063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Product roadmap, dev environment setup, Next.js/React codebase walkthrough, Git workflow.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6176772" y="3822192"/>
            <a:ext cx="219456" cy="219456"/>
          </a:xfrm>
          <a:prstGeom prst="ellipse">
            <a:avLst/>
          </a:prstGeom>
          <a:solidFill>
            <a:srgbClr val="FFFFFF"/>
          </a:solidFill>
          <a:ln w="31750">
            <a:solidFill>
              <a:srgbClr val="2563EB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572000" y="1783080"/>
            <a:ext cx="3429000" cy="1783080"/>
          </a:xfrm>
          <a:prstGeom prst="roundRect">
            <a:avLst>
              <a:gd name="adj" fmla="val 410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4754880" y="1920240"/>
            <a:ext cx="3063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D4E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Week 2</a:t>
            </a:r>
            <a:endParaRPr lang="en-US" sz="1700" dirty="0"/>
          </a:p>
        </p:txBody>
      </p:sp>
      <p:sp>
        <p:nvSpPr>
          <p:cNvPr id="13" name="Text 11"/>
          <p:cNvSpPr txBox="1"/>
          <p:nvPr/>
        </p:nvSpPr>
        <p:spPr>
          <a:xfrm>
            <a:off x="4754880" y="2286000"/>
            <a:ext cx="3063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Frontend Features</a:t>
            </a:r>
            <a:endParaRPr lang="en-US" sz="1200" dirty="0"/>
          </a:p>
        </p:txBody>
      </p:sp>
      <p:sp>
        <p:nvSpPr>
          <p:cNvPr id="14" name="Text 12"/>
          <p:cNvSpPr txBox="1"/>
          <p:nvPr/>
        </p:nvSpPr>
        <p:spPr>
          <a:xfrm>
            <a:off x="4754880" y="2624328"/>
            <a:ext cx="3063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React components, portfolio templates, responsive UI polish shipped to the live platform.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9925812" y="3822192"/>
            <a:ext cx="219456" cy="219456"/>
          </a:xfrm>
          <a:prstGeom prst="ellipse">
            <a:avLst/>
          </a:prstGeom>
          <a:solidFill>
            <a:srgbClr val="FFFFFF"/>
          </a:solidFill>
          <a:ln w="31750">
            <a:solidFill>
              <a:srgbClr val="2563EB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8321040" y="4297680"/>
            <a:ext cx="3429000" cy="1783080"/>
          </a:xfrm>
          <a:prstGeom prst="roundRect">
            <a:avLst>
              <a:gd name="adj" fmla="val 410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8503920" y="4434840"/>
            <a:ext cx="3063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D4E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Week 3</a:t>
            </a:r>
            <a:endParaRPr lang="en-US" sz="1700" dirty="0"/>
          </a:p>
        </p:txBody>
      </p:sp>
      <p:sp>
        <p:nvSpPr>
          <p:cNvPr id="18" name="Text 16"/>
          <p:cNvSpPr txBox="1"/>
          <p:nvPr/>
        </p:nvSpPr>
        <p:spPr>
          <a:xfrm>
            <a:off x="8503920" y="4800600"/>
            <a:ext cx="3063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Backend &amp; APIs</a:t>
            </a:r>
            <a:endParaRPr lang="en-US" sz="1200" dirty="0"/>
          </a:p>
        </p:txBody>
      </p:sp>
      <p:sp>
        <p:nvSpPr>
          <p:cNvPr id="19" name="Text 17"/>
          <p:cNvSpPr txBox="1"/>
          <p:nvPr/>
        </p:nvSpPr>
        <p:spPr>
          <a:xfrm>
            <a:off x="8503920" y="5138928"/>
            <a:ext cx="3063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API routes, resume upload &amp; processing pipeline, data modelling and integration.</a:t>
            </a:r>
            <a:endParaRPr lang="en-US" sz="10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Internship Timeline (Weeks 4 to 6)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66928" y="1024128"/>
            <a:ext cx="11055096" cy="27432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4" name="Shape 2"/>
          <p:cNvSpPr/>
          <p:nvPr/>
        </p:nvSpPr>
        <p:spPr>
          <a:xfrm>
            <a:off x="566928" y="3913632"/>
            <a:ext cx="11055096" cy="45720"/>
          </a:xfrm>
          <a:prstGeom prst="rect">
            <a:avLst/>
          </a:prstGeom>
          <a:solidFill>
            <a:srgbClr val="C7D2FE"/>
          </a:solidFill>
          <a:ln/>
        </p:spPr>
      </p:sp>
      <p:sp>
        <p:nvSpPr>
          <p:cNvPr id="5" name="Shape 3"/>
          <p:cNvSpPr/>
          <p:nvPr/>
        </p:nvSpPr>
        <p:spPr>
          <a:xfrm>
            <a:off x="2427732" y="3822192"/>
            <a:ext cx="219456" cy="219456"/>
          </a:xfrm>
          <a:prstGeom prst="ellipse">
            <a:avLst/>
          </a:prstGeom>
          <a:solidFill>
            <a:srgbClr val="FFFFFF"/>
          </a:solidFill>
          <a:ln w="31750">
            <a:solidFill>
              <a:srgbClr val="2563EB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22960" y="4297680"/>
            <a:ext cx="3429000" cy="1783080"/>
          </a:xfrm>
          <a:prstGeom prst="roundRect">
            <a:avLst>
              <a:gd name="adj" fmla="val 410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005840" y="4434840"/>
            <a:ext cx="3063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D4E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Week 4</a:t>
            </a:r>
            <a:endParaRPr lang="en-US" sz="1700" dirty="0"/>
          </a:p>
        </p:txBody>
      </p:sp>
      <p:sp>
        <p:nvSpPr>
          <p:cNvPr id="8" name="Text 6"/>
          <p:cNvSpPr txBox="1"/>
          <p:nvPr/>
        </p:nvSpPr>
        <p:spPr>
          <a:xfrm>
            <a:off x="1005840" y="4800600"/>
            <a:ext cx="3063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Integration</a:t>
            </a:r>
            <a:endParaRPr lang="en-US" sz="1200" dirty="0"/>
          </a:p>
        </p:txBody>
      </p:sp>
      <p:sp>
        <p:nvSpPr>
          <p:cNvPr id="9" name="Text 7"/>
          <p:cNvSpPr txBox="1"/>
          <p:nvPr/>
        </p:nvSpPr>
        <p:spPr>
          <a:xfrm>
            <a:off x="1005840" y="5138928"/>
            <a:ext cx="3063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LLM-based resume parsing &amp; content generation, prompt design, structured outputs.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6176772" y="3822192"/>
            <a:ext cx="219456" cy="219456"/>
          </a:xfrm>
          <a:prstGeom prst="ellipse">
            <a:avLst/>
          </a:prstGeom>
          <a:solidFill>
            <a:srgbClr val="FFFFFF"/>
          </a:solidFill>
          <a:ln w="31750">
            <a:solidFill>
              <a:srgbClr val="2563EB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572000" y="1783080"/>
            <a:ext cx="3429000" cy="1783080"/>
          </a:xfrm>
          <a:prstGeom prst="roundRect">
            <a:avLst>
              <a:gd name="adj" fmla="val 410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4754880" y="1920240"/>
            <a:ext cx="3063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D4E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Week 5</a:t>
            </a:r>
            <a:endParaRPr lang="en-US" sz="1700" dirty="0"/>
          </a:p>
        </p:txBody>
      </p:sp>
      <p:sp>
        <p:nvSpPr>
          <p:cNvPr id="13" name="Text 11"/>
          <p:cNvSpPr txBox="1"/>
          <p:nvPr/>
        </p:nvSpPr>
        <p:spPr>
          <a:xfrm>
            <a:off x="4754880" y="2286000"/>
            <a:ext cx="3063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Testing &amp; Deployment</a:t>
            </a:r>
            <a:endParaRPr lang="en-US" sz="1200" dirty="0"/>
          </a:p>
        </p:txBody>
      </p:sp>
      <p:sp>
        <p:nvSpPr>
          <p:cNvPr id="14" name="Text 12"/>
          <p:cNvSpPr txBox="1"/>
          <p:nvPr/>
        </p:nvSpPr>
        <p:spPr>
          <a:xfrm>
            <a:off x="4754880" y="2624328"/>
            <a:ext cx="3063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Bug fixes, feature testing, deployment workflow, performance &amp; SEO optimization.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9925812" y="3822192"/>
            <a:ext cx="219456" cy="219456"/>
          </a:xfrm>
          <a:prstGeom prst="ellipse">
            <a:avLst/>
          </a:prstGeom>
          <a:solidFill>
            <a:srgbClr val="FFFFFF"/>
          </a:solidFill>
          <a:ln w="31750">
            <a:solidFill>
              <a:srgbClr val="2563EB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8321040" y="4297680"/>
            <a:ext cx="3429000" cy="1783080"/>
          </a:xfrm>
          <a:prstGeom prst="roundRect">
            <a:avLst>
              <a:gd name="adj" fmla="val 410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8503920" y="4434840"/>
            <a:ext cx="3063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D4E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Week 6</a:t>
            </a:r>
            <a:endParaRPr lang="en-US" sz="1700" dirty="0"/>
          </a:p>
        </p:txBody>
      </p:sp>
      <p:sp>
        <p:nvSpPr>
          <p:cNvPr id="18" name="Text 16"/>
          <p:cNvSpPr txBox="1"/>
          <p:nvPr/>
        </p:nvSpPr>
        <p:spPr>
          <a:xfrm>
            <a:off x="8503920" y="4800600"/>
            <a:ext cx="3063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Feedback &amp; Delivery</a:t>
            </a:r>
            <a:endParaRPr lang="en-US" sz="1200" dirty="0"/>
          </a:p>
        </p:txBody>
      </p:sp>
      <p:sp>
        <p:nvSpPr>
          <p:cNvPr id="19" name="Text 17"/>
          <p:cNvSpPr txBox="1"/>
          <p:nvPr/>
        </p:nvSpPr>
        <p:spPr>
          <a:xfrm>
            <a:off x="8503920" y="5138928"/>
            <a:ext cx="3063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User feedback iteration, analytics, documentation, and final handover with async updates.</a:t>
            </a:r>
            <a:endParaRPr lang="en-US" sz="10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Work &amp; Demonstrated Skills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66928" y="1024128"/>
            <a:ext cx="11055096" cy="27432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4" name="Shape 2"/>
          <p:cNvSpPr/>
          <p:nvPr/>
        </p:nvSpPr>
        <p:spPr>
          <a:xfrm>
            <a:off x="658368" y="1664208"/>
            <a:ext cx="292608" cy="292608"/>
          </a:xfrm>
          <a:prstGeom prst="ellipse">
            <a:avLst/>
          </a:prstGeom>
          <a:solidFill>
            <a:srgbClr val="2563EB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658368" y="1664208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1143000" y="1645920"/>
            <a:ext cx="10332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000"/>
              </a:lnSpc>
              <a:buNone/>
            </a:pPr>
            <a:r>
              <a:rPr lang="en-US" sz="13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Live Feature Development: </a:t>
            </a:r>
            <a:pPr indent="0" marL="0">
              <a:lnSpc>
                <a:spcPts val="2000"/>
              </a:lnSpc>
              <a:buNone/>
            </a:pPr>
            <a:r>
              <a:rPr lang="en-US" sz="135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Shipped hands-on development work on the live Next.js/React platform — real features delivered to real users.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658368" y="2532888"/>
            <a:ext cx="292608" cy="292608"/>
          </a:xfrm>
          <a:prstGeom prst="ellipse">
            <a:avLst/>
          </a:prstGeom>
          <a:solidFill>
            <a:srgbClr val="2563EB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658368" y="2532888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1143000" y="2514600"/>
            <a:ext cx="10332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000"/>
              </a:lnSpc>
              <a:buNone/>
            </a:pPr>
            <a:r>
              <a:rPr lang="en-US" sz="13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Backend &amp; Pipeline Engineering: </a:t>
            </a:r>
            <a:pPr indent="0" marL="0">
              <a:lnSpc>
                <a:spcPts val="2000"/>
              </a:lnSpc>
              <a:buNone/>
            </a:pPr>
            <a:r>
              <a:rPr lang="en-US" sz="135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Built and improved API routes and server-side logic powering the resume-to-portfolio generation flow.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658368" y="3401568"/>
            <a:ext cx="292608" cy="292608"/>
          </a:xfrm>
          <a:prstGeom prst="ellipse">
            <a:avLst/>
          </a:prstGeom>
          <a:solidFill>
            <a:srgbClr val="2563EB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658368" y="3401568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1143000" y="3383280"/>
            <a:ext cx="10332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000"/>
              </a:lnSpc>
              <a:buNone/>
            </a:pPr>
            <a:r>
              <a:rPr lang="en-US" sz="13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AI-Powered Generation: </a:t>
            </a:r>
            <a:pPr indent="0" marL="0">
              <a:lnSpc>
                <a:spcPts val="2000"/>
              </a:lnSpc>
              <a:buNone/>
            </a:pPr>
            <a:r>
              <a:rPr lang="en-US" sz="135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Worked on LLM-based resume parsing and portfolio content generation, improving quality and reliability.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658368" y="4270248"/>
            <a:ext cx="292608" cy="292608"/>
          </a:xfrm>
          <a:prstGeom prst="ellipse">
            <a:avLst/>
          </a:prstGeom>
          <a:solidFill>
            <a:srgbClr val="2563EB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658368" y="4270248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300" dirty="0"/>
          </a:p>
        </p:txBody>
      </p:sp>
      <p:sp>
        <p:nvSpPr>
          <p:cNvPr id="15" name="Text 13"/>
          <p:cNvSpPr txBox="1"/>
          <p:nvPr/>
        </p:nvSpPr>
        <p:spPr>
          <a:xfrm>
            <a:off x="1143000" y="4251960"/>
            <a:ext cx="10332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000"/>
              </a:lnSpc>
              <a:buNone/>
            </a:pPr>
            <a:r>
              <a:rPr lang="en-US" sz="13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Founder-Level Collaboration: </a:t>
            </a:r>
            <a:pPr indent="0" marL="0">
              <a:lnSpc>
                <a:spcPts val="2000"/>
              </a:lnSpc>
              <a:buNone/>
            </a:pPr>
            <a:r>
              <a:rPr lang="en-US" sz="135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Collaborated directly with the founder on product, backend, and AI-integration tasks.</a:t>
            </a:r>
            <a:endParaRPr lang="en-US" sz="1350" dirty="0"/>
          </a:p>
        </p:txBody>
      </p:sp>
      <p:sp>
        <p:nvSpPr>
          <p:cNvPr id="16" name="Shape 14"/>
          <p:cNvSpPr/>
          <p:nvPr/>
        </p:nvSpPr>
        <p:spPr>
          <a:xfrm>
            <a:off x="658368" y="5138928"/>
            <a:ext cx="292608" cy="292608"/>
          </a:xfrm>
          <a:prstGeom prst="ellipse">
            <a:avLst/>
          </a:prstGeom>
          <a:solidFill>
            <a:srgbClr val="2563EB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658368" y="5138928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300" dirty="0"/>
          </a:p>
        </p:txBody>
      </p:sp>
      <p:sp>
        <p:nvSpPr>
          <p:cNvPr id="18" name="Text 16"/>
          <p:cNvSpPr txBox="1"/>
          <p:nvPr/>
        </p:nvSpPr>
        <p:spPr>
          <a:xfrm>
            <a:off x="1143000" y="5120640"/>
            <a:ext cx="10332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000"/>
              </a:lnSpc>
              <a:buNone/>
            </a:pPr>
            <a:r>
              <a:rPr lang="en-US" sz="13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Ownership &amp; Communication: </a:t>
            </a:r>
            <a:pPr indent="0" marL="0">
              <a:lnSpc>
                <a:spcPts val="2000"/>
              </a:lnSpc>
              <a:buNone/>
            </a:pPr>
            <a:r>
              <a:rPr lang="en-US" sz="135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Maintained 15–20 hours/week commitment with proactive, asynchronous progress updates and end-to-end ownership.</a:t>
            </a:r>
            <a:endParaRPr lang="en-US" sz="13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Offer Details &amp; Official Verification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66928" y="1024128"/>
            <a:ext cx="11055096" cy="27432"/>
          </a:xfrm>
          <a:prstGeom prst="rect">
            <a:avLst/>
          </a:prstGeom>
          <a:solidFill>
            <a:srgbClr val="2563EB"/>
          </a:solidFill>
          <a:ln/>
        </p:spPr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66928" y="1645920"/>
          <a:ext cx="11055096" cy="914400"/>
        </p:xfrm>
        <a:graphic>
          <a:graphicData uri="http://schemas.openxmlformats.org/drawingml/2006/table">
            <a:tbl>
              <a:tblPr/>
              <a:tblGrid>
                <a:gridCol w="3291840"/>
                <a:gridCol w="7763256"/>
              </a:tblGrid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Verification Metric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Official Record / Offer Details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Internship Title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33415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Software Development Internship — itsfolio.tech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Position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33415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Software Development Intern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Host Organization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33415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itsfolio.tech — AI-powered resume-to-portfolio platform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Offer Issued By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33415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Mr. Ashish Umrao, Founder, itsfolio.tech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Duration &amp; Mode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33415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June 18 – July 31, 2026 (6 Weeks) • Remote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Compensation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33415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Certificate of Internship &amp; Letter of Recommendation on completion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Official Contact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33415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hello@itsfolio.tech  |  itsfolio.tech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Internship Offer Letter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66928" y="1024128"/>
            <a:ext cx="11055096" cy="27432"/>
          </a:xfrm>
          <a:prstGeom prst="rect">
            <a:avLst/>
          </a:prstGeom>
          <a:solidFill>
            <a:srgbClr val="2563EB"/>
          </a:solidFill>
          <a:ln/>
        </p:spPr>
      </p:sp>
      <p:pic>
        <p:nvPicPr>
          <p:cNvPr id="4" name="Image 0" descr="assets/lavanya_offer_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173045" y="1417320"/>
            <a:ext cx="5842861" cy="4572000"/>
          </a:xfrm>
          <a:prstGeom prst="rect">
            <a:avLst/>
          </a:prstGeom>
          <a:effectLst>
            <a:outerShdw sx="100000" sy="100000" kx="0" ky="0" algn="bl" rotWithShape="0" blurRad="101600" dist="38100" dir="5400000">
              <a:srgbClr val="94A3B8">
                <a:alpha val="40000"/>
              </a:srgbClr>
            </a:outerShdw>
          </a:effectLst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0" y="1463040"/>
            <a:ext cx="12188952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4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Thank You!</a:t>
            </a:r>
            <a:endParaRPr lang="en-US" sz="5400" dirty="0"/>
          </a:p>
        </p:txBody>
      </p:sp>
      <p:sp>
        <p:nvSpPr>
          <p:cNvPr id="3" name="Shape 1"/>
          <p:cNvSpPr/>
          <p:nvPr/>
        </p:nvSpPr>
        <p:spPr>
          <a:xfrm>
            <a:off x="2651760" y="3291840"/>
            <a:ext cx="6885432" cy="1737360"/>
          </a:xfrm>
          <a:prstGeom prst="roundRect">
            <a:avLst>
              <a:gd name="adj" fmla="val 4211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3017520" y="3611880"/>
            <a:ext cx="29260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200"/>
              </a:lnSpc>
              <a:buNone/>
            </a:pPr>
            <a:r>
              <a:rPr lang="en-US" sz="16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Lavanya Jangid
</a:t>
            </a:r>
            <a:pPr indent="0" marL="0">
              <a:lnSpc>
                <a:spcPts val="2200"/>
              </a:lnSpc>
              <a:buNone/>
            </a:pPr>
            <a:r>
              <a:rPr lang="en-US" sz="11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Roll No: 2410031445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6035040" y="3657600"/>
            <a:ext cx="10973" cy="1005840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6355080" y="3611880"/>
            <a:ext cx="30175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000"/>
              </a:lnSpc>
              <a:buNone/>
            </a:pPr>
            <a:r>
              <a:rPr lang="en-US" sz="14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School of Computer Science &amp; Engineering
</a:t>
            </a:r>
            <a:pPr indent="0" marL="0">
              <a:lnSpc>
                <a:spcPts val="2000"/>
              </a:lnSpc>
              <a:buNone/>
            </a:pPr>
            <a:r>
              <a:rPr lang="en-US" sz="11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IILM University, Greater Noida, U.P.</a:t>
            </a:r>
            <a:endParaRPr lang="en-US" sz="14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2026-08-27T12:25:05Z</dcterms:created>
  <dcterms:modified xsi:type="dcterms:W3CDTF">2026-08-27T12:25:05Z</dcterms:modified>
</cp:coreProperties>
</file>